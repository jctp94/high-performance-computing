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342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9415E">
              <a:alpha val="60000"/>
            </a:srgbClr>
          </a:solidFill>
          <a:ln w="12700">
            <a:solidFill>
              <a:srgbClr val="0941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Shape 2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07536F">
              <a:alpha val="50000"/>
            </a:srgbClr>
          </a:solidFill>
          <a:ln w="12700">
            <a:solidFill>
              <a:srgbClr val="07536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D2BD"/>
                </a:solidFill>
              </a:rPr>
              <a:t>COMPUTACIÓN DE ALTO RENDIMIENTO — PROYECTO II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Análisis de Calidad del Agua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94D2BD"/>
                </a:solidFill>
              </a:rPr>
              <a:t>con Machine Learning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CDE8"/>
                </a:solidFill>
              </a:rPr>
              <a:t>Ríos de la India — Implementación con PySpark y Scikit-Learn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6400800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2011680" cy="804672"/>
          </a:xfrm>
          <a:prstGeom prst="rect">
            <a:avLst/>
          </a:prstGeom>
          <a:solidFill>
            <a:srgbClr val="07415E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9396"/>
                </a:solidFill>
              </a:rPr>
              <a:t>Dataset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CPCB India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534 estaciones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24912" y="3154680"/>
            <a:ext cx="2011680" cy="804672"/>
          </a:xfrm>
          <a:prstGeom prst="rect">
            <a:avLst/>
          </a:prstGeom>
          <a:solidFill>
            <a:srgbClr val="07415E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2724912" y="3182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9396"/>
                </a:solidFill>
              </a:rPr>
              <a:t>Stack 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24912" y="342900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Keras · Scikit-Learn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01184" y="3154680"/>
            <a:ext cx="2011680" cy="804672"/>
          </a:xfrm>
          <a:prstGeom prst="rect">
            <a:avLst/>
          </a:prstGeom>
          <a:solidFill>
            <a:srgbClr val="07415E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4901184" y="3182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9396"/>
                </a:solidFill>
              </a:rPr>
              <a:t>Stack HPC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1184" y="342900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Apache Spark · HDFS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77456" y="3154680"/>
            <a:ext cx="2011680" cy="804672"/>
          </a:xfrm>
          <a:prstGeom prst="rect">
            <a:avLst/>
          </a:prstGeom>
          <a:solidFill>
            <a:srgbClr val="07415E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Text 18"/>
          <p:cNvSpPr/>
          <p:nvPr/>
        </p:nvSpPr>
        <p:spPr>
          <a:xfrm>
            <a:off x="7077456" y="3182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9396"/>
                </a:solidFill>
              </a:rPr>
              <a:t>Modelos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77456" y="342900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ANN · RF · GB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CC4"/>
                </a:solidFill>
              </a:rPr>
              <a:t>Juan Camilo Torres Peña  ·  Maestría en Computación de Alto Rendimiento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Problema y Dataset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</a:rPr>
              <a:t>¿Qué queremos predecir?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La calidad del agua en ríos de la India a partir de parámetros fisicoquímicos medidos en campo:
</a:t>
            </a:r>
            <a:r>
              <a:rPr lang="en-US" sz="1200" b="1" dirty="0">
                <a:solidFill>
                  <a:srgbClr val="065A82"/>
                </a:solidFill>
              </a:rPr>
              <a:t>• Como valor continuo: </a:t>
            </a:r>
            <a:r>
              <a:rPr lang="en-US" sz="1200" dirty="0">
                <a:solidFill>
                  <a:srgbClr val="0D2137"/>
                </a:solidFill>
              </a:rPr>
              <a:t>Índice WQI (0–100)
</a:t>
            </a:r>
            <a:r>
              <a:rPr lang="en-US" sz="1200" b="1" dirty="0">
                <a:solidFill>
                  <a:srgbClr val="065A82"/>
                </a:solidFill>
              </a:rPr>
              <a:t>• Como categoría: </a:t>
            </a:r>
            <a:r>
              <a:rPr lang="en-US" sz="1200" dirty="0">
                <a:solidFill>
                  <a:srgbClr val="0D2137"/>
                </a:solidFill>
              </a:rPr>
              <a:t>Excelente / Buena / Baja / Muy Baja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Variables del dataset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4114800" cy="2240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Unidad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Relevancia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Oxígeno Disuelto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mg/L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6B2E"/>
                          </a:solidFill>
                        </a:rPr>
                        <a:t>★★★ Alta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pH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6B2E"/>
                          </a:solidFill>
                        </a:rPr>
                        <a:t>★★ Media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Conductividad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µS/cm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6B2E"/>
                          </a:solidFill>
                        </a:rPr>
                        <a:t>★★★ Alta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DBO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mg/L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6B2E"/>
                          </a:solidFill>
                        </a:rPr>
                        <a:t>★★★ Alta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Nitratos/Nitritos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mg/L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6B2E"/>
                          </a:solidFill>
                        </a:rPr>
                        <a:t>★ Baja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Coliformes Fecales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UFC/100mL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6B2E"/>
                          </a:solidFill>
                        </a:rPr>
                        <a:t>★★★ Crítica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914400"/>
            <a:ext cx="4206240" cy="333756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12" name="Image 0" descr="/home/claude/imgs/histogram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60120"/>
            <a:ext cx="4114800" cy="32461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22452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Distribución de parámetros — 534 estaciones CPCB India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E0F2F7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1"/>
          <p:cNvSpPr/>
          <p:nvPr/>
        </p:nvSpPr>
        <p:spPr>
          <a:xfrm>
            <a:off x="274320" y="47274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4A6E"/>
                </a:solidFill>
              </a:rPr>
              <a:t>534 estaciones · Formato CSV cargado desde HDFS · Procesado con Apache Spark · 4 categorías de calidad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Pipeline ETL con Apache Spark + HDFS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298448" cy="1463040"/>
          </a:xfrm>
          <a:prstGeom prst="rect">
            <a:avLst/>
          </a:prstGeom>
          <a:solidFill>
            <a:srgbClr val="D0E8F0"/>
          </a:solidFill>
          <a:ln w="12700">
            <a:solidFill>
              <a:srgbClr val="0524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298448" cy="347472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274320" y="9784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HDFS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129844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Almacenamiento distribuido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(replicación 3×)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72768" y="1691640"/>
            <a:ext cx="164592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Shape 10"/>
          <p:cNvSpPr/>
          <p:nvPr/>
        </p:nvSpPr>
        <p:spPr>
          <a:xfrm>
            <a:off x="1737360" y="960120"/>
            <a:ext cx="1298448" cy="1463040"/>
          </a:xfrm>
          <a:prstGeom prst="rect">
            <a:avLst/>
          </a:prstGeom>
          <a:solidFill>
            <a:srgbClr val="E0F0F8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1737360" y="960120"/>
            <a:ext cx="1298448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1737360" y="9784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SparkSession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1353312"/>
            <a:ext cx="129844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Carga distribuida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read.csv() en clúster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35808" y="1691640"/>
            <a:ext cx="164592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1298448" cy="1463040"/>
          </a:xfrm>
          <a:prstGeom prst="rect">
            <a:avLst/>
          </a:prstGeom>
          <a:solidFill>
            <a:srgbClr val="E0F5F5"/>
          </a:solidFill>
          <a:ln w="12700">
            <a:solidFill>
              <a:srgbClr val="0A93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8" name="Shape 16"/>
          <p:cNvSpPr/>
          <p:nvPr/>
        </p:nvSpPr>
        <p:spPr>
          <a:xfrm>
            <a:off x="3200400" y="960120"/>
            <a:ext cx="129844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Text 17"/>
          <p:cNvSpPr/>
          <p:nvPr/>
        </p:nvSpPr>
        <p:spPr>
          <a:xfrm>
            <a:off x="3200400" y="9784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Limpieza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1353312"/>
            <a:ext cx="129844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Filtro nulos + cast Float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DataFrames Spark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98848" y="1691640"/>
            <a:ext cx="164592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1298448" cy="1463040"/>
          </a:xfrm>
          <a:prstGeom prst="rect">
            <a:avLst/>
          </a:prstGeom>
          <a:solidFill>
            <a:srgbClr val="D4EDDA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1298448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Text 22"/>
          <p:cNvSpPr/>
          <p:nvPr/>
        </p:nvSpPr>
        <p:spPr>
          <a:xfrm>
            <a:off x="4663440" y="9784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WQI Cálculo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353312"/>
            <a:ext cx="129844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UDFs + SQL 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Sub-índices qr*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61888" y="1691640"/>
            <a:ext cx="164592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Shape 25"/>
          <p:cNvSpPr/>
          <p:nvPr/>
        </p:nvSpPr>
        <p:spPr>
          <a:xfrm>
            <a:off x="6126480" y="960120"/>
            <a:ext cx="1298448" cy="1463040"/>
          </a:xfrm>
          <a:prstGeom prst="rect">
            <a:avLst/>
          </a:prstGeom>
          <a:solidFill>
            <a:srgbClr val="FFF3CD"/>
          </a:solidFill>
          <a:ln w="12700">
            <a:solidFill>
              <a:srgbClr val="D07B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8" name="Shape 26"/>
          <p:cNvSpPr/>
          <p:nvPr/>
        </p:nvSpPr>
        <p:spPr>
          <a:xfrm>
            <a:off x="6126480" y="960120"/>
            <a:ext cx="1298448" cy="347472"/>
          </a:xfrm>
          <a:prstGeom prst="rect">
            <a:avLst/>
          </a:prstGeom>
          <a:solidFill>
            <a:srgbClr val="D07B00"/>
          </a:solidFill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Text 27"/>
          <p:cNvSpPr/>
          <p:nvPr/>
        </p:nvSpPr>
        <p:spPr>
          <a:xfrm>
            <a:off x="6126480" y="9784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Etiquetado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1353312"/>
            <a:ext cx="129844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CALIDAD = f(WQI)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Spark SQL por rangos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24928" y="1691640"/>
            <a:ext cx="164592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Shape 30"/>
          <p:cNvSpPr/>
          <p:nvPr/>
        </p:nvSpPr>
        <p:spPr>
          <a:xfrm>
            <a:off x="7589520" y="960120"/>
            <a:ext cx="1298448" cy="1463040"/>
          </a:xfrm>
          <a:prstGeom prst="rect">
            <a:avLst/>
          </a:prstGeom>
          <a:solidFill>
            <a:srgbClr val="E0F0F8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7589520" y="960120"/>
            <a:ext cx="1298448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Text 32"/>
          <p:cNvSpPr/>
          <p:nvPr/>
        </p:nvSpPr>
        <p:spPr>
          <a:xfrm>
            <a:off x="7589520" y="9784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sklearn/Keras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1353312"/>
            <a:ext cx="129844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.toPandas() → driver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Entrenamiento local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560320"/>
            <a:ext cx="8595360" cy="548640"/>
          </a:xfrm>
          <a:prstGeom prst="rect">
            <a:avLst/>
          </a:prstGeom>
          <a:solidFill>
            <a:srgbClr val="E0F2F7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7" name="Text 35"/>
          <p:cNvSpPr/>
          <p:nvPr/>
        </p:nvSpPr>
        <p:spPr>
          <a:xfrm>
            <a:off x="45720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¿Por qué Spark? </a:t>
            </a:r>
            <a:r>
              <a:rPr lang="en-US" sz="1200" dirty="0">
                <a:solidFill>
                  <a:srgbClr val="0D2137"/>
                </a:solidFill>
              </a:rPr>
              <a:t>Si el dataset escalara a millones de registros diarios (sensores IoT en tiempo real), el ETL no requiere cambios — solo más nodos en el clúster.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</a:rPr>
              <a:t>Decisiones de diseño HPC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3566160"/>
            <a:ext cx="4206240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D0E0E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0" name="Text 38"/>
          <p:cNvSpPr/>
          <p:nvPr/>
        </p:nvSpPr>
        <p:spPr>
          <a:xfrm>
            <a:off x="347472" y="35661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ETL en Spark, ML en sklearn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7472" y="37673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Spark no es óptimo para iteración ML — sklearn lo es para ~500 muestras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566160"/>
            <a:ext cx="4206240" cy="438912"/>
          </a:xfrm>
          <a:prstGeom prst="rect">
            <a:avLst/>
          </a:prstGeom>
          <a:solidFill>
            <a:srgbClr val="E0F2F7"/>
          </a:solidFill>
          <a:ln w="12700">
            <a:solidFill>
              <a:srgbClr val="D0E0E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3" name="Text 41"/>
          <p:cNvSpPr/>
          <p:nvPr/>
        </p:nvSpPr>
        <p:spPr>
          <a:xfrm>
            <a:off x="4736592" y="35661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HDFS como fuente de datos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36592" y="37673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Desacoplamiento: datos en clúster, cómputo portable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069080"/>
            <a:ext cx="4206240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D0E0E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6" name="Text 44"/>
          <p:cNvSpPr/>
          <p:nvPr/>
        </p:nvSpPr>
        <p:spPr>
          <a:xfrm>
            <a:off x="347472" y="40690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n_jobs=-1 en Random Forest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47472" y="42702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Paralelización perfecta — 300 árboles independientes en todos los núcleos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4069080"/>
            <a:ext cx="4206240" cy="438912"/>
          </a:xfrm>
          <a:prstGeom prst="rect">
            <a:avLst/>
          </a:prstGeom>
          <a:solidFill>
            <a:srgbClr val="E0F2F7"/>
          </a:solidFill>
          <a:ln w="12700">
            <a:solidFill>
              <a:srgbClr val="D0E0E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9" name="Text 47"/>
          <p:cNvSpPr/>
          <p:nvPr/>
        </p:nvSpPr>
        <p:spPr>
          <a:xfrm>
            <a:off x="4736592" y="40690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.toPandas() solo al final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36592" y="42702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Minimiza transferencia driver↔workers — principio de localidad de datos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Índice de Calidad del Agua (WQI)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4A6E"/>
                </a:solidFill>
              </a:rPr>
              <a:t>Cada parámetro se transforma en un sub-índice [0–100] y se pondera según bibliografía científica. Mayor WQI = peor calidad.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Pesos y sub-índices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81912"/>
          <a:ext cx="4206240" cy="210312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Peso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qr = 100 cuando...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Coliformes Fecales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28.4%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&lt; 5 UFC/100mL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Oxígeno Disuelto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28.1%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≥ 6.0 mg/L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Conductividad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23.4%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0–75 µS/cm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pH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16.5%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7.0–8.5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Nitratos/Nitritos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2.8%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&lt; 20 mg/L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DBO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0.9%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</a:rPr>
                        <a:t>&lt; 3.0 mg/L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749040"/>
            <a:ext cx="4206240" cy="502920"/>
          </a:xfrm>
          <a:prstGeom prst="rect">
            <a:avLst/>
          </a:prstGeom>
          <a:solidFill>
            <a:srgbClr val="E0F2F7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8"/>
          <p:cNvSpPr/>
          <p:nvPr/>
        </p:nvSpPr>
        <p:spPr>
          <a:xfrm>
            <a:off x="365760" y="3840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43A"/>
                </a:solidFill>
              </a:rPr>
              <a:t>WQI = Σ(pesoᵢ × qrᵢ)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440" y="12984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Categorías de acción por WQI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581912"/>
            <a:ext cx="4206240" cy="402336"/>
          </a:xfrm>
          <a:prstGeom prst="rect">
            <a:avLst/>
          </a:prstGeom>
          <a:solidFill>
            <a:srgbClr val="D4EDDA"/>
          </a:solidFill>
          <a:ln w="12700">
            <a:solidFill>
              <a:srgbClr val="155724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1"/>
          <p:cNvSpPr/>
          <p:nvPr/>
        </p:nvSpPr>
        <p:spPr>
          <a:xfrm>
            <a:off x="4736592" y="162763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5724"/>
                </a:solidFill>
              </a:rPr>
              <a:t>[0 – 25)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06440" y="162763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5724"/>
                </a:solidFill>
              </a:rPr>
              <a:t>Excelente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95160" y="16276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Apta sin tratamiento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2020824"/>
            <a:ext cx="4206240" cy="402336"/>
          </a:xfrm>
          <a:prstGeom prst="rect">
            <a:avLst/>
          </a:prstGeom>
          <a:solidFill>
            <a:srgbClr val="D1ECF1"/>
          </a:solidFill>
          <a:ln w="12700">
            <a:solidFill>
              <a:srgbClr val="0C546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Text 15"/>
          <p:cNvSpPr/>
          <p:nvPr/>
        </p:nvSpPr>
        <p:spPr>
          <a:xfrm>
            <a:off x="4736592" y="206654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5460"/>
                </a:solidFill>
              </a:rPr>
              <a:t>[25 – 50)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06440" y="206654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5460"/>
                </a:solidFill>
              </a:rPr>
              <a:t>Buena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95160" y="20665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Tratamiento básico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2459736"/>
            <a:ext cx="420624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856404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Text 19"/>
          <p:cNvSpPr/>
          <p:nvPr/>
        </p:nvSpPr>
        <p:spPr>
          <a:xfrm>
            <a:off x="4736592" y="25054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56404"/>
                </a:solidFill>
              </a:rPr>
              <a:t>[50 – 75)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806440" y="250545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6404"/>
                </a:solidFill>
              </a:rPr>
              <a:t>Baja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995160" y="25054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Tratamiento estándar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2898648"/>
            <a:ext cx="4206240" cy="402336"/>
          </a:xfrm>
          <a:prstGeom prst="rect">
            <a:avLst/>
          </a:prstGeom>
          <a:solidFill>
            <a:srgbClr val="FDECEA"/>
          </a:solidFill>
          <a:ln w="12700">
            <a:solidFill>
              <a:srgbClr val="721C24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Text 23"/>
          <p:cNvSpPr/>
          <p:nvPr/>
        </p:nvSpPr>
        <p:spPr>
          <a:xfrm>
            <a:off x="4736592" y="294436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21C24"/>
                </a:solidFill>
              </a:rPr>
              <a:t>[75 – 100)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806440" y="29443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21C24"/>
                </a:solidFill>
              </a:rPr>
              <a:t>Muy Baja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995160" y="29443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Tratamiento intensivo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3337560"/>
            <a:ext cx="4206240" cy="402336"/>
          </a:xfrm>
          <a:prstGeom prst="rect">
            <a:avLst/>
          </a:prstGeom>
          <a:solidFill>
            <a:srgbClr val="F8D7DA"/>
          </a:solidFill>
          <a:ln w="12700">
            <a:solidFill>
              <a:srgbClr val="491217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0" name="Text 27"/>
          <p:cNvSpPr/>
          <p:nvPr/>
        </p:nvSpPr>
        <p:spPr>
          <a:xfrm>
            <a:off x="4736592" y="338328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91217"/>
                </a:solidFill>
              </a:rPr>
              <a:t>≥ 100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806440" y="338328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1217"/>
                </a:solidFill>
              </a:rPr>
              <a:t>Inadecuada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995160" y="33832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No apta — alerta crítica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3749040"/>
            <a:ext cx="4206240" cy="123444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pic>
        <p:nvPicPr>
          <p:cNvPr id="34" name="Image 0" descr="/home/claude/imgs/class_d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767328"/>
            <a:ext cx="4169664" cy="1197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Análisis Exploratorio — Distribución Espacial del WQI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3977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8" name="Image 0" descr="/home/claude/imgs/wqi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41832"/>
            <a:ext cx="3968496" cy="39136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34840" y="914400"/>
            <a:ext cx="4480560" cy="3977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10" name="Image 1" descr="/home/claude/imgs/wqi_stat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941832"/>
            <a:ext cx="4425696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Análisis Exploratorio — Parámetros Fisicoquímicos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8686800" cy="205740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8" name="Image 0" descr="/home/claude/imgs/boxplo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60120"/>
            <a:ext cx="8631936" cy="20025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299923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46E7A"/>
                </a:solidFill>
              </a:rPr>
              <a:t>Distribución por categoría de calidad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8600" y="3246120"/>
            <a:ext cx="420624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11" name="Image 1" descr="/home/claude/imgs/corr_matri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273552"/>
            <a:ext cx="4151376" cy="1499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" y="479145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46E7A"/>
                </a:solidFill>
              </a:rPr>
              <a:t>Matriz de correlación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09160" y="3246120"/>
            <a:ext cx="420624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14" name="Image 2" descr="/home/claude/imgs/do_ph_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273552"/>
            <a:ext cx="4151376" cy="1499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479145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46E7A"/>
                </a:solidFill>
              </a:rPr>
              <a:t>Parámetros DO y pH — series temporales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Análisis Exploratorio — Hallazgos Clave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2962656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Observación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Implicación para el modelo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DO y BOD son los discriminadores más fuertes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Features con mayor importancia esperada — confirmado por RF y GB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FECAL_COLIFORM con sesgo extremo (~15% outliers)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Árboles de decisión son insensibles a este sesgo — ventaja sobre ANN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DBO ↔ FC: r &gt; 0.5 (correlación bioquímica real)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No eliminar — correlación tiene significado real, no es redundancia artificial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Desbalanceo de clases — Baja domina (58%)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Requiere class_weight='balanced' y validación cruzada estratificada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Conductividad con outliers extremos (&gt;20.000 µS/cm)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Puntos de contaminación industrial — señal real, no error de medición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274320" y="3730752"/>
            <a:ext cx="416052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9" name="Image 0" descr="/home/claude/imgs/dbo_nit_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3758184"/>
            <a:ext cx="4105656" cy="11338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91947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DBO y Nitratos/Nitritos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709160" y="3730752"/>
            <a:ext cx="416052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12" name="Image 1" descr="/home/claude/imgs/cond_fc_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758184"/>
            <a:ext cx="4105656" cy="11338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491947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Conductividad y Coliformes Fecales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Modelo Base — Red Neuronal (ANN / Keras)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4A6E"/>
                </a:solidFill>
              </a:rPr>
              <a:t>Regresión: predicción del WQI continuo a partir de sub-índices qr*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Arquitectura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261872" cy="1371600"/>
          </a:xfrm>
          <a:prstGeom prst="rect">
            <a:avLst/>
          </a:prstGeom>
          <a:solidFill>
            <a:srgbClr val="D8EAF5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261872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274320" y="158191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Entrada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1911096"/>
            <a:ext cx="1261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6 neuronas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[qrPH, qrDO, qrCOND,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qrBOD, qrNN, qrFecal]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36192" y="2258568"/>
            <a:ext cx="128016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1664208" y="1572768"/>
            <a:ext cx="1261872" cy="1371600"/>
          </a:xfrm>
          <a:prstGeom prst="rect">
            <a:avLst/>
          </a:prstGeom>
          <a:solidFill>
            <a:srgbClr val="DAEEF0"/>
          </a:solidFill>
          <a:ln w="12700">
            <a:solidFill>
              <a:srgbClr val="0A93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1664208" y="1572768"/>
            <a:ext cx="1261872" cy="31089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1664208" y="158191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Oculta ×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1911096"/>
            <a:ext cx="1261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Dense(350)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Activación ReLU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2258568"/>
            <a:ext cx="128016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3054096" y="1572768"/>
            <a:ext cx="1261872" cy="1371600"/>
          </a:xfrm>
          <a:prstGeom prst="rect">
            <a:avLst/>
          </a:prstGeom>
          <a:solidFill>
            <a:srgbClr val="D4EDDA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3054096" y="1572768"/>
            <a:ext cx="1261872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3054096" y="158191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Salida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54096" y="1911096"/>
            <a:ext cx="1261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1 neurona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WQI continuo (lineal)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2999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</a:rPr>
              <a:t>Normalización: StandardScaler · Optimizer: Adam · Loss: MSE · Epochs: 200 · Batch: 16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1005840" cy="1005840"/>
          </a:xfrm>
          <a:prstGeom prst="rect">
            <a:avLst/>
          </a:prstGeom>
          <a:solidFill>
            <a:srgbClr val="D4EDDA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274320" y="33741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B2E"/>
                </a:solidFill>
              </a:rPr>
              <a:t>0.9989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4320" y="38770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4A6E"/>
                </a:solidFill>
              </a:rPr>
              <a:t>R²  |  99.89% varianza explicada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325880" y="3310128"/>
            <a:ext cx="1005840" cy="1005840"/>
          </a:xfrm>
          <a:prstGeom prst="rect">
            <a:avLst/>
          </a:prstGeom>
          <a:solidFill>
            <a:srgbClr val="E0F2F7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8" name="Text 26"/>
          <p:cNvSpPr/>
          <p:nvPr/>
        </p:nvSpPr>
        <p:spPr>
          <a:xfrm>
            <a:off x="1325880" y="33741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</a:rPr>
              <a:t>0.51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25880" y="38770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4A6E"/>
                </a:solidFill>
              </a:rPr>
              <a:t>RMSE  |  Error típico ±0.51 pts WQI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77440" y="3310128"/>
            <a:ext cx="100584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31" name="Text 29"/>
          <p:cNvSpPr/>
          <p:nvPr/>
        </p:nvSpPr>
        <p:spPr>
          <a:xfrm>
            <a:off x="2377440" y="33741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</a:rPr>
              <a:t>0.11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377440" y="38770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4A6E"/>
                </a:solidFill>
              </a:rPr>
              <a:t>MAE  |  Error absoluto promedio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29000" y="3310128"/>
            <a:ext cx="1005840" cy="1005840"/>
          </a:xfrm>
          <a:prstGeom prst="rect">
            <a:avLst/>
          </a:prstGeom>
          <a:solidFill>
            <a:srgbClr val="FFF8E8"/>
          </a:solidFill>
          <a:ln w="12700">
            <a:solidFill>
              <a:srgbClr val="D07B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34" name="Text 32"/>
          <p:cNvSpPr/>
          <p:nvPr/>
        </p:nvSpPr>
        <p:spPr>
          <a:xfrm>
            <a:off x="3429000" y="33741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7B00"/>
                </a:solidFill>
              </a:rPr>
              <a:t>0.04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429000" y="38770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4A6E"/>
                </a:solidFill>
              </a:rPr>
              <a:t>Sesgo  |  Sin sesgo sistemático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80560" y="914400"/>
            <a:ext cx="4434840" cy="242316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37" name="Image 0" descr="/home/claude/imgs/ann_ev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941832"/>
            <a:ext cx="4379976" cy="236829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480560" y="333756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WQI Real vs Predicho + distribución de errores (Test Set)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480560" y="3584448"/>
            <a:ext cx="4434840" cy="1298448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40" name="Image 1" descr="/home/claude/imgs/ann_learn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3611880"/>
            <a:ext cx="4379976" cy="1243584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480560" y="4882896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Curva de aprendizaje (pérdida MSE)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274320" y="4361688"/>
            <a:ext cx="4160520" cy="658368"/>
          </a:xfrm>
          <a:prstGeom prst="rect">
            <a:avLst/>
          </a:prstGeom>
          <a:solidFill>
            <a:srgbClr val="FFF3CD"/>
          </a:solidFill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3" name="Text 39"/>
          <p:cNvSpPr/>
          <p:nvPr/>
        </p:nvSpPr>
        <p:spPr>
          <a:xfrm>
            <a:off x="365760" y="440740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7B00"/>
                </a:solidFill>
              </a:rPr>
              <a:t>⚠ Limitación: </a:t>
            </a:r>
            <a:r>
              <a:rPr lang="en-US" sz="1050" dirty="0">
                <a:solidFill>
                  <a:srgbClr val="0D2137"/>
                </a:solidFill>
              </a:rPr>
              <a:t>Las features (qr*) son sub-índices calculados con las mismas reglas que producen el WQI. En campo no existen — solo existen las mediciones crudas. Esto motiva los modelos de clasificación directa.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Reencuadre: Regresión → Clasificación Directa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</a:rPr>
              <a:t>¿Por qué agregar nuevos modelos?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8595360" cy="2743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ANN — Regresión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RF / GB — Clasificación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4A6E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</a:rPr>
                        <a:t>Valor numérico WQI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6B2E"/>
                          </a:solidFill>
                        </a:rPr>
                        <a:t>Categoría de acción directa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4A6E"/>
                          </a:solidFill>
                        </a:rPr>
                        <a:t>Features de entrada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</a:rPr>
                        <a:t>Sub-índices derivados (qr*)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6B2E"/>
                          </a:solidFill>
                        </a:rPr>
                        <a:t>Mediciones crudas directas ✓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4A6E"/>
                          </a:solidFill>
                        </a:rPr>
                        <a:t>Utilidad en campo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</a:rPr>
                        <a:t>Análisis de tendencias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6B2E"/>
                          </a:solidFill>
                        </a:rPr>
                        <a:t>Alertas inmediatas operacionales ✓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4A6E"/>
                          </a:solidFill>
                        </a:rPr>
                        <a:t>Requiere dominio experto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</a:rPr>
                        <a:t>Sí — calcular qr*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6B2E"/>
                          </a:solidFill>
                        </a:rPr>
                        <a:t>No ✓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4A6E"/>
                          </a:solidFill>
                        </a:rPr>
                        <a:t>Acción del operador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</a:rPr>
                        <a:t>Interpretar un número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6B2E"/>
                          </a:solidFill>
                        </a:rPr>
                        <a:t>Leer etiqueta (Buena/Inadecuada) ✓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39136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Dos modelos elegidos para clasificación directa</a:t>
            </a:r>
            <a:endParaRPr lang="en-US" sz="1200" dirty="0"/>
          </a:p>
        </p:txBody>
      </p:sp>
      <p:sp>
        <p:nvSpPr>
          <p:cNvPr id="8" name="Shape 7"/>
          <p:cNvSpPr/>
          <p:nvPr/>
        </p:nvSpPr>
        <p:spPr>
          <a:xfrm>
            <a:off x="274320" y="4224528"/>
            <a:ext cx="4160520" cy="777240"/>
          </a:xfrm>
          <a:prstGeom prst="rect">
            <a:avLst/>
          </a:prstGeom>
          <a:solidFill>
            <a:srgbClr val="E0F2F7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1" name="Shape 8"/>
          <p:cNvSpPr/>
          <p:nvPr/>
        </p:nvSpPr>
        <p:spPr>
          <a:xfrm>
            <a:off x="274320" y="4224528"/>
            <a:ext cx="1828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9"/>
          <p:cNvSpPr/>
          <p:nvPr/>
        </p:nvSpPr>
        <p:spPr>
          <a:xfrm>
            <a:off x="502920" y="42519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Modelo 1 — Random Forest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450799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Ensemble paralelo · Alta interpretabilidad · Robusto a outliers · Entrenamiento paralelizable (n_jobs=-1)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4224528"/>
            <a:ext cx="4160520" cy="777240"/>
          </a:xfrm>
          <a:prstGeom prst="rect">
            <a:avLst/>
          </a:prstGeom>
          <a:solidFill>
            <a:srgbClr val="D4EDDA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5" name="Shape 12"/>
          <p:cNvSpPr/>
          <p:nvPr/>
        </p:nvSpPr>
        <p:spPr>
          <a:xfrm>
            <a:off x="4663440" y="4224528"/>
            <a:ext cx="182880" cy="7772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3"/>
          <p:cNvSpPr/>
          <p:nvPr/>
        </p:nvSpPr>
        <p:spPr>
          <a:xfrm>
            <a:off x="4892040" y="42519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</a:rPr>
              <a:t>Modelo 2 — Gradient Boosting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450799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Ensemble secuencial · Estado del arte en datos tabulares · Early stopping automático · Mayor precisión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Modelo 1 — Random Forest: Algoritmo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Dos fuentes de aleatoriedad forzada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500" y="1270000"/>
            <a:ext cx="381000" cy="381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317500" y="12700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100" y="1231900"/>
            <a:ext cx="4064000" cy="533400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876300" y="1244600"/>
            <a:ext cx="3937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Bootstrap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6300" y="1460500"/>
            <a:ext cx="39370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63% muestras random por árbol (bag)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000" y="1663700"/>
            <a:ext cx="0" cy="17780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317500" y="1854200"/>
            <a:ext cx="381000" cy="381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3"/>
          <p:cNvSpPr/>
          <p:nvPr/>
        </p:nvSpPr>
        <p:spPr>
          <a:xfrm>
            <a:off x="317500" y="18542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" y="1816100"/>
            <a:ext cx="4064000" cy="533400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876300" y="1828800"/>
            <a:ext cx="3937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Feature Bagging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6300" y="2044700"/>
            <a:ext cx="39370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√6 features random en cada nodo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000" y="2247900"/>
            <a:ext cx="0" cy="17780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317500" y="2438400"/>
            <a:ext cx="381000" cy="381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317500" y="24384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0100" y="2400300"/>
            <a:ext cx="4064000" cy="533400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Text 21"/>
          <p:cNvSpPr/>
          <p:nvPr/>
        </p:nvSpPr>
        <p:spPr>
          <a:xfrm>
            <a:off x="876300" y="2413000"/>
            <a:ext cx="3937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300 Árboles PARALELOS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6300" y="2628900"/>
            <a:ext cx="39370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Entrenamiento simultáneo (n_jobs=-1)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8000" y="2832100"/>
            <a:ext cx="0" cy="17780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n-CO"/>
          </a:p>
        </p:txBody>
      </p:sp>
      <p:sp>
        <p:nvSpPr>
          <p:cNvPr id="26" name="Shape 24"/>
          <p:cNvSpPr/>
          <p:nvPr/>
        </p:nvSpPr>
        <p:spPr>
          <a:xfrm>
            <a:off x="317500" y="3022600"/>
            <a:ext cx="381000" cy="381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317500" y="30226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0100" y="2984500"/>
            <a:ext cx="4064000" cy="533400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Text 27"/>
          <p:cNvSpPr/>
          <p:nvPr/>
        </p:nvSpPr>
        <p:spPr>
          <a:xfrm>
            <a:off x="876300" y="2997200"/>
            <a:ext cx="3937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Voto por mayoría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6300" y="3213100"/>
            <a:ext cx="39370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Clase más votada = predicción final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9400" y="3657600"/>
            <a:ext cx="4749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Hiperparámetros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328357"/>
              </p:ext>
            </p:extLst>
          </p:nvPr>
        </p:nvGraphicFramePr>
        <p:xfrm>
          <a:off x="279400" y="3937000"/>
          <a:ext cx="4749800" cy="1041400"/>
        </p:xfrm>
        <a:graphic>
          <a:graphicData uri="http://schemas.openxmlformats.org/drawingml/2006/table">
            <a:tbl>
              <a:tblPr/>
              <a:tblGrid>
                <a:gridCol w="1644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6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Justificación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n_estimators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65A82"/>
                          </a:solidFill>
                        </a:rPr>
                        <a:t>300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300 árboles independientes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max_depth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65A82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Árboles profundos (alta complejidad individual)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class_weight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65A82"/>
                          </a:solidFill>
                        </a:rPr>
                        <a:t>balanced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Compensa desbalanceo de clases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n_jobs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65A82"/>
                          </a:solidFill>
                        </a:rPr>
                        <a:t>-1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Paralelismo total — todos los núcleos disponibles</a:t>
                      </a:r>
                      <a:endParaRPr lang="en-US" sz="800" dirty="0"/>
                    </a:p>
                  </a:txBody>
                  <a:tcPr marT="25400" marB="25400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5166360" y="932688"/>
            <a:ext cx="370332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34" name="Image 0" descr="/home/claude/imgs/rf_importa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960120"/>
            <a:ext cx="3648456" cy="227685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166360" y="326440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Importancia de Features — Random Forest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193792" y="3520440"/>
            <a:ext cx="3675888" cy="685800"/>
          </a:xfrm>
          <a:prstGeom prst="rect">
            <a:avLst/>
          </a:prstGeom>
          <a:solidFill>
            <a:srgbClr val="E0F2F7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7" name="Text 33"/>
          <p:cNvSpPr/>
          <p:nvPr/>
        </p:nvSpPr>
        <p:spPr>
          <a:xfrm>
            <a:off x="5239512" y="3584448"/>
            <a:ext cx="3566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Coliformes Fecales es el predictor más importante (34.7% Gini), seguido por Oxígeno Disuelto (27.3%) y Conductividad (13.7%). Esto valida empíricamente los pesos del WQI original.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Random Forest — Resultados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466344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8" name="Image 0" descr="/home/claude/imgs/rf_confu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960120"/>
            <a:ext cx="4608576" cy="2276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326440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Matriz de Confusión — Random Forest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120640" y="932688"/>
            <a:ext cx="374904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11" name="Image 1" descr="/home/claude/imgs/roc_curv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960120"/>
            <a:ext cx="3694176" cy="22768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32644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Curvas ROC por clase (RF y GB)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3520440"/>
            <a:ext cx="1325880" cy="1325880"/>
          </a:xfrm>
          <a:prstGeom prst="rect">
            <a:avLst/>
          </a:prstGeom>
          <a:solidFill>
            <a:srgbClr val="D4EDDA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4" name="Text 10"/>
          <p:cNvSpPr/>
          <p:nvPr/>
        </p:nvSpPr>
        <p:spPr>
          <a:xfrm>
            <a:off x="27432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6B2E"/>
                </a:solidFill>
              </a:rPr>
              <a:t>94.4%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7432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Accuracy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737360" y="3520440"/>
            <a:ext cx="1325880" cy="1325880"/>
          </a:xfrm>
          <a:prstGeom prst="rect">
            <a:avLst/>
          </a:prstGeom>
          <a:solidFill>
            <a:srgbClr val="E0F2F7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7" name="Text 13"/>
          <p:cNvSpPr/>
          <p:nvPr/>
        </p:nvSpPr>
        <p:spPr>
          <a:xfrm>
            <a:off x="173736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</a:rPr>
              <a:t>71.3%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73736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Precision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(macro)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00400" y="3520440"/>
            <a:ext cx="1325880" cy="1325880"/>
          </a:xfrm>
          <a:prstGeom prst="rect">
            <a:avLst/>
          </a:prstGeom>
          <a:solidFill>
            <a:srgbClr val="E0F2F7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0" name="Text 16"/>
          <p:cNvSpPr/>
          <p:nvPr/>
        </p:nvSpPr>
        <p:spPr>
          <a:xfrm>
            <a:off x="320040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</a:rPr>
              <a:t>72.6%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20040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Recall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(macro)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63440" y="3520440"/>
            <a:ext cx="1325880" cy="1325880"/>
          </a:xfrm>
          <a:prstGeom prst="rect">
            <a:avLst/>
          </a:prstGeom>
          <a:solidFill>
            <a:srgbClr val="E0F2F7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3" name="Text 19"/>
          <p:cNvSpPr/>
          <p:nvPr/>
        </p:nvSpPr>
        <p:spPr>
          <a:xfrm>
            <a:off x="466344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</a:rPr>
              <a:t>71.9%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66344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F1-Score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(macro)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126480" y="3520440"/>
            <a:ext cx="1325880" cy="1325880"/>
          </a:xfrm>
          <a:prstGeom prst="rect">
            <a:avLst/>
          </a:prstGeom>
          <a:solidFill>
            <a:srgbClr val="D4EDDA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6" name="Text 22"/>
          <p:cNvSpPr/>
          <p:nvPr/>
        </p:nvSpPr>
        <p:spPr>
          <a:xfrm>
            <a:off x="612648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6B2E"/>
                </a:solidFill>
              </a:rPr>
              <a:t>97.8%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12648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AUC-ROC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(macro)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589520" y="3520440"/>
            <a:ext cx="1325880" cy="13258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9" name="Text 25"/>
          <p:cNvSpPr/>
          <p:nvPr/>
        </p:nvSpPr>
        <p:spPr>
          <a:xfrm>
            <a:off x="758952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85.1%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758952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CV F1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Media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solidFill>
            <a:srgbClr val="E0F2F7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Text 28"/>
          <p:cNvSpPr/>
          <p:nvPr/>
        </p:nvSpPr>
        <p:spPr>
          <a:xfrm>
            <a:off x="274320" y="4901184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4A6E"/>
                </a:solidFill>
              </a:rPr>
              <a:t>Clase Excelente con menor recall (datos limitados — solo 14 muestras). AUC-ROC Muy_Baja = 1.000 — separación perfecta.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Modelo 2 — Gradient Boosting: Algoritmo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Aprendizaje secuencial por corrección de errores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35024"/>
            <a:ext cx="45720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274320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1280160"/>
            <a:ext cx="4069080" cy="658368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877824" y="13167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Predicción 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1554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Clase más frecuente — predicción inicial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1792224"/>
            <a:ext cx="0" cy="210312"/>
          </a:xfrm>
          <a:prstGeom prst="line">
            <a:avLst/>
          </a:prstGeom>
          <a:noFill/>
          <a:ln w="12700">
            <a:solidFill>
              <a:srgbClr val="0A9396"/>
            </a:solidFill>
            <a:prstDash val="dash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457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3"/>
          <p:cNvSpPr/>
          <p:nvPr/>
        </p:nvSpPr>
        <p:spPr>
          <a:xfrm>
            <a:off x="2743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" y="2002536"/>
            <a:ext cx="4069080" cy="658368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877824" y="20391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Cálculo de residuos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22768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rᵢ = yᵢ − p₀(xᵢ)  ← errores del paso anterior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514600"/>
            <a:ext cx="0" cy="210312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57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27432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" y="2724912"/>
            <a:ext cx="4069080" cy="658368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Text 21"/>
          <p:cNvSpPr/>
          <p:nvPr/>
        </p:nvSpPr>
        <p:spPr>
          <a:xfrm>
            <a:off x="877824" y="2761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Árbol aprende residuos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2999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Árbol superficial (max_depth=4) sobre los errores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236976"/>
            <a:ext cx="0" cy="210312"/>
          </a:xfrm>
          <a:prstGeom prst="line">
            <a:avLst/>
          </a:prstGeom>
          <a:noFill/>
          <a:ln w="12700">
            <a:solidFill>
              <a:srgbClr val="2E7D32"/>
            </a:solidFill>
            <a:prstDash val="dash"/>
          </a:ln>
        </p:spPr>
        <p:txBody>
          <a:bodyPr/>
          <a:lstStyle/>
          <a:p>
            <a:endParaRPr lang="en-CO"/>
          </a:p>
        </p:txBody>
      </p:sp>
      <p:sp>
        <p:nvSpPr>
          <p:cNvPr id="26" name="Shape 24"/>
          <p:cNvSpPr/>
          <p:nvPr/>
        </p:nvSpPr>
        <p:spPr>
          <a:xfrm>
            <a:off x="274320" y="3502152"/>
            <a:ext cx="457200" cy="457200"/>
          </a:xfrm>
          <a:prstGeom prst="rect">
            <a:avLst/>
          </a:prstGeom>
          <a:solidFill>
            <a:srgbClr val="D07B00"/>
          </a:solidFill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27432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3447288"/>
            <a:ext cx="4069080" cy="658368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Text 27"/>
          <p:cNvSpPr/>
          <p:nvPr/>
        </p:nvSpPr>
        <p:spPr>
          <a:xfrm>
            <a:off x="877824" y="34838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B00"/>
                </a:solidFill>
              </a:rPr>
              <a:t>Actualización del modelo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" y="37216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Fₜ = Fₜ₋₁ + 0.05 × hₜ(x)  ← learning rate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959352"/>
            <a:ext cx="0" cy="210312"/>
          </a:xfrm>
          <a:prstGeom prst="line">
            <a:avLst/>
          </a:prstGeom>
          <a:noFill/>
          <a:ln w="12700">
            <a:solidFill>
              <a:srgbClr val="D07B00"/>
            </a:solidFill>
            <a:prstDash val="dash"/>
          </a:ln>
        </p:spPr>
        <p:txBody>
          <a:bodyPr/>
          <a:lstStyle/>
          <a:p>
            <a:endParaRPr lang="en-CO"/>
          </a:p>
        </p:txBody>
      </p:sp>
      <p:sp>
        <p:nvSpPr>
          <p:cNvPr id="32" name="Shape 30"/>
          <p:cNvSpPr/>
          <p:nvPr/>
        </p:nvSpPr>
        <p:spPr>
          <a:xfrm>
            <a:off x="274320" y="4224528"/>
            <a:ext cx="4572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Text 31"/>
          <p:cNvSpPr/>
          <p:nvPr/>
        </p:nvSpPr>
        <p:spPr>
          <a:xfrm>
            <a:off x="27432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" y="4169664"/>
            <a:ext cx="406908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Text 33"/>
          <p:cNvSpPr/>
          <p:nvPr/>
        </p:nvSpPr>
        <p:spPr>
          <a:xfrm>
            <a:off x="877824" y="42062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</a:rPr>
              <a:t>Early Stopping (ronda 152)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7824" y="44439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Para si validación no mejora en 25 rondas seguidas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853726"/>
            <a:ext cx="4754880" cy="256032"/>
          </a:xfrm>
          <a:prstGeom prst="rect">
            <a:avLst/>
          </a:prstGeom>
          <a:solidFill>
            <a:srgbClr val="FFF3CD"/>
          </a:solidFill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8" name="Text 36"/>
          <p:cNvSpPr/>
          <p:nvPr/>
        </p:nvSpPr>
        <p:spPr>
          <a:xfrm>
            <a:off x="301752" y="4885919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2137"/>
                </a:solidFill>
              </a:rPr>
              <a:t>Analogía: aprender a tirar dardos midiendo cuánto fallaste — el siguiente tiro corrige ese error específico.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66360" y="932688"/>
            <a:ext cx="3703320" cy="1481328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40" name="Image 0" descr="/home/claude/imgs/gb_converge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960120"/>
            <a:ext cx="3648456" cy="142646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166360" y="241401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Curva de Convergencia — GB (early stopping ronda 152)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029200" y="2643447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</a:rPr>
              <a:t>Hiperparámetros clave</a:t>
            </a:r>
            <a:endParaRPr lang="en-US" sz="11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539853"/>
              </p:ext>
            </p:extLst>
          </p:nvPr>
        </p:nvGraphicFramePr>
        <p:xfrm>
          <a:off x="5120643" y="2880864"/>
          <a:ext cx="3657597" cy="2225040"/>
        </p:xfrm>
        <a:graphic>
          <a:graphicData uri="http://schemas.openxmlformats.org/drawingml/2006/table">
            <a:tbl>
              <a:tblPr/>
              <a:tblGrid>
                <a:gridCol w="1399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Justificación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0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n_estimators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Límite — early stopping actúa antes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0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learning_rate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lr bajo + muchos árboles = robusto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0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max_depth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Weak learners — evita overfitting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0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subsample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0.8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Stochastic GB — 20% descartado/árbol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0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n_iter_no_change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Criterio de parada por validación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Gradient Boosting — Resultados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466344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8" name="Image 0" descr="/home/claude/imgs/gb_confu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960120"/>
            <a:ext cx="4608576" cy="2276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326440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Matriz de Confusión — Gradient Boosting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120640" y="932688"/>
            <a:ext cx="374904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11" name="Image 1" descr="/home/claude/imgs/gb_importa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960120"/>
            <a:ext cx="3694176" cy="22768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32644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Importancia de Features — Gradient Boosting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3520440"/>
            <a:ext cx="1325880" cy="1325880"/>
          </a:xfrm>
          <a:prstGeom prst="rect">
            <a:avLst/>
          </a:prstGeom>
          <a:solidFill>
            <a:srgbClr val="D4EDDA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4" name="Text 10"/>
          <p:cNvSpPr/>
          <p:nvPr/>
        </p:nvSpPr>
        <p:spPr>
          <a:xfrm>
            <a:off x="27432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6B2E"/>
                </a:solidFill>
              </a:rPr>
              <a:t>90.0%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7432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Accuracy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737360" y="3520440"/>
            <a:ext cx="1325880" cy="1325880"/>
          </a:xfrm>
          <a:prstGeom prst="rect">
            <a:avLst/>
          </a:prstGeom>
          <a:solidFill>
            <a:srgbClr val="E0F2F7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17" name="Text 13"/>
          <p:cNvSpPr/>
          <p:nvPr/>
        </p:nvSpPr>
        <p:spPr>
          <a:xfrm>
            <a:off x="173736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</a:rPr>
              <a:t>67.4%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73736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Precision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(macro)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00400" y="3520440"/>
            <a:ext cx="1325880" cy="1325880"/>
          </a:xfrm>
          <a:prstGeom prst="rect">
            <a:avLst/>
          </a:prstGeom>
          <a:solidFill>
            <a:srgbClr val="E0F2F7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0" name="Text 16"/>
          <p:cNvSpPr/>
          <p:nvPr/>
        </p:nvSpPr>
        <p:spPr>
          <a:xfrm>
            <a:off x="320040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</a:rPr>
              <a:t>68.7%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20040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Recall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(macro)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63440" y="3520440"/>
            <a:ext cx="1325880" cy="1325880"/>
          </a:xfrm>
          <a:prstGeom prst="rect">
            <a:avLst/>
          </a:prstGeom>
          <a:solidFill>
            <a:srgbClr val="E0F2F7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3" name="Text 19"/>
          <p:cNvSpPr/>
          <p:nvPr/>
        </p:nvSpPr>
        <p:spPr>
          <a:xfrm>
            <a:off x="466344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</a:rPr>
              <a:t>68.0%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66344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F1-Score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(macro)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126480" y="3520440"/>
            <a:ext cx="1325880" cy="1325880"/>
          </a:xfrm>
          <a:prstGeom prst="rect">
            <a:avLst/>
          </a:prstGeom>
          <a:solidFill>
            <a:srgbClr val="D4EDDA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6" name="Text 22"/>
          <p:cNvSpPr/>
          <p:nvPr/>
        </p:nvSpPr>
        <p:spPr>
          <a:xfrm>
            <a:off x="612648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6B2E"/>
                </a:solidFill>
              </a:rPr>
              <a:t>98.1%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12648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AUC-ROC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(macro)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589520" y="3520440"/>
            <a:ext cx="1325880" cy="13258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29" name="Text 25"/>
          <p:cNvSpPr/>
          <p:nvPr/>
        </p:nvSpPr>
        <p:spPr>
          <a:xfrm>
            <a:off x="7589520" y="3584448"/>
            <a:ext cx="132588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87.9%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7589520" y="4249674"/>
            <a:ext cx="1325880" cy="556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CV F1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4A6E"/>
                </a:solidFill>
              </a:rPr>
              <a:t>Media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solidFill>
            <a:srgbClr val="D4EDDA"/>
          </a:solidFill>
          <a:ln w="12700">
            <a:solidFill>
              <a:srgbClr val="1E6B2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Text 28"/>
          <p:cNvSpPr/>
          <p:nvPr/>
        </p:nvSpPr>
        <p:spPr>
          <a:xfrm>
            <a:off x="274320" y="4901184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6B2E"/>
                </a:solidFill>
              </a:rPr>
              <a:t>GB obtiene mejor CV F1 (87.9% vs 85.1%) y mejor AUC-ROC — recomendado para producción. FC sigue siendo el predictor más importante (39.0%).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Random Forest vs. Gradient Boosting — Análisis Comparativo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3728" y="868680"/>
            <a:ext cx="4766216" cy="1809485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8" name="Image 0" descr="/home/claude/imgs/metrics_compa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60" y="896112"/>
            <a:ext cx="4670770" cy="178205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06440" y="932689"/>
            <a:ext cx="2355147" cy="1639062"/>
          </a:xfrm>
          <a:prstGeom prst="rect">
            <a:avLst/>
          </a:prstGeom>
          <a:solidFill>
            <a:srgbClr val="ECEFF1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pic>
        <p:nvPicPr>
          <p:cNvPr id="10" name="Image 1" descr="/home/claude/imgs/rad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960120"/>
            <a:ext cx="2327715" cy="154945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187309"/>
              </p:ext>
            </p:extLst>
          </p:nvPr>
        </p:nvGraphicFramePr>
        <p:xfrm>
          <a:off x="637058" y="2787894"/>
          <a:ext cx="7524529" cy="2263140"/>
        </p:xfrm>
        <a:graphic>
          <a:graphicData uri="http://schemas.openxmlformats.org/drawingml/2006/table">
            <a:tbl>
              <a:tblPr/>
              <a:tblGrid>
                <a:gridCol w="2321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Criterio técnico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Gradient Boosting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C4A6E"/>
                          </a:solidFill>
                        </a:rPr>
                        <a:t>Estrategia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Bagging (paralelo)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Boosting (secuencial)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C4A6E"/>
                          </a:solidFill>
                        </a:rPr>
                        <a:t>Error que reduce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Varianza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Sesgo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C4A6E"/>
                          </a:solidFill>
                        </a:rPr>
                        <a:t>Prof. de árboles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Alta (max_depth=12)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Baja (max_depth=4) — weak learners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C4A6E"/>
                          </a:solidFill>
                        </a:rPr>
                        <a:t>Velocidad entreno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6B2E"/>
                          </a:solidFill>
                        </a:rPr>
                        <a:t>Rápida (n_jobs=-1) ✓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Más lenta (secuencial)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C4A6E"/>
                          </a:solidFill>
                        </a:rPr>
                        <a:t>Regularización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No automática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6B2E"/>
                          </a:solidFill>
                        </a:rPr>
                        <a:t>Early stopping automático ✓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C4A6E"/>
                          </a:solidFill>
                        </a:rPr>
                        <a:t>CV F1 Media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0.851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6B2E"/>
                          </a:solidFill>
                        </a:rPr>
                        <a:t>0.879 ✓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C4A6E"/>
                          </a:solidFill>
                        </a:rPr>
                        <a:t>AUC-ROC macro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0.978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6B2E"/>
                          </a:solidFill>
                        </a:rPr>
                        <a:t>0.981 ✓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C4A6E"/>
                          </a:solidFill>
                        </a:rPr>
                        <a:t>Uso recomendado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Baseline rápido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6B2E"/>
                          </a:solidFill>
                        </a:rPr>
                        <a:t>Producción ✓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Comparación Global — Los Tres Modelos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4A6E"/>
                </a:solidFill>
              </a:rPr>
              <a:t>Los modelos son complementarios — ANN para tendencias continuas del WQI; RF/GB para clasificación operacional directa en campo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8595360" cy="38221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 (Keras)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Gradient Boosting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Tarea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Regresión (WQI)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Clasificación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Clasificación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Features de entrada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Sub-índices qr*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Mediciones crudas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Mediciones crudas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Normalización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Requerida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No necesaria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Buena práctica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Outliers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Sensible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Robusto (árboles)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Robusto (árboles)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Clases desbalanceadas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class_weight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class_weight + subsampling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Interpretabilidad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Baja (caja negra)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Alta (feature importances)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Overfitting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Riesgo medio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Controlado (bagging)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Early stopping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Escalabilidad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Alta (n_jobs=-1)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Media (secuencial)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Uso recomendado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Tendencias WQI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Baseline rápido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6B2E"/>
                          </a:solidFill>
                        </a:rPr>
                        <a:t>Producción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4A6E"/>
                          </a:solidFill>
                        </a:rPr>
                        <a:t>Mejor métrica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R²=0.9989 (regresión)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Accuracy 94.4%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CV F1=0.879 / AUC=0.981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Arquitectura de Alto Desempeño — Spark + HDFS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1874520"/>
          </a:xfrm>
          <a:prstGeom prst="rect">
            <a:avLst/>
          </a:prstGeom>
          <a:solidFill>
            <a:srgbClr val="E8F0F8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274320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5A82"/>
                </a:solidFill>
              </a:rPr>
              <a:t>CAPA DISTRIBUIDA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34747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548640" y="1307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Hadoop HDFS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3291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• Replicación de datos (factor 3)
• Tolerancia a fallos automática
• Particionamiento por bloques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1938528"/>
            <a:ext cx="1097280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4251960" y="1783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9396"/>
                </a:solidFill>
              </a:rPr>
              <a:t>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20640" y="1298448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4"/>
          <p:cNvSpPr/>
          <p:nvPr/>
        </p:nvSpPr>
        <p:spPr>
          <a:xfrm>
            <a:off x="5120640" y="1298448"/>
            <a:ext cx="3474720" cy="31089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5120640" y="1307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Apache Spark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1645920"/>
            <a:ext cx="3291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• DAG de transformaciones
• Procesamiento en memoria
• SQL distribuido sobre RDDs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834640"/>
            <a:ext cx="0" cy="411480"/>
          </a:xfrm>
          <a:prstGeom prst="line">
            <a:avLst/>
          </a:prstGeom>
          <a:noFill/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Text 18"/>
          <p:cNvSpPr/>
          <p:nvPr/>
        </p:nvSpPr>
        <p:spPr>
          <a:xfrm>
            <a:off x="2834640" y="3218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07B00"/>
                </a:solidFill>
              </a:rPr>
              <a:t>.toPandas()  →  nodo driver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8595360" cy="1234440"/>
          </a:xfrm>
          <a:prstGeom prst="rect">
            <a:avLst/>
          </a:prstGeom>
          <a:solidFill>
            <a:srgbClr val="F0FBF0"/>
          </a:solidFill>
          <a:ln w="12700">
            <a:solidFill>
              <a:srgbClr val="1E6B2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Text 20"/>
          <p:cNvSpPr/>
          <p:nvPr/>
        </p:nvSpPr>
        <p:spPr>
          <a:xfrm>
            <a:off x="274320" y="35478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6B2E"/>
                </a:solidFill>
              </a:rPr>
              <a:t>CAPA LOCAL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2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</a:rPr>
              <a:t>sklearn (RF, GB) — n_jobs=-1 — GPU opcional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Entrenamiento en driver · Random Forest paralelo · 300 árboles simultáneos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84048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2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475488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</a:rPr>
              <a:t>Keras / TensorFlow — ANN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Red neuronal Dense(350)×3 · 200 épocas · Escala con GPU si disponible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41605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320040" y="9509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Sobre los modelos de Machine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160520" cy="603504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109728" cy="60350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438912" y="1298448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Gradient Boosting: mejor desempeño de clasificación (CV F1=0.879, AUC=0.981) — recomendado para alertas operacionales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109728" cy="60350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438912" y="1956816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Random Forest: alternativa óptima cuando se prioriza velocidad, interpretabilidad y simplicidad de despliegue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578608"/>
            <a:ext cx="4160520" cy="603504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109728" cy="60350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438912" y="2615184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ANN complementa con predicción continua del WQI (R²=0.9989) para análisis de tendencias temporales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23697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274320" y="3236976"/>
            <a:ext cx="109728" cy="60350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Text 18"/>
          <p:cNvSpPr/>
          <p:nvPr/>
        </p:nvSpPr>
        <p:spPr>
          <a:xfrm>
            <a:off x="438912" y="3273552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Los tres modelos coinciden: FECAL_COLIFORM, DO y DBO son las variables más informativas — validación empírica de los pesos del WQI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932688"/>
            <a:ext cx="4160520" cy="292608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Text 20"/>
          <p:cNvSpPr/>
          <p:nvPr/>
        </p:nvSpPr>
        <p:spPr>
          <a:xfrm>
            <a:off x="4754880" y="9509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Sobre la arquitectura de Alto Desempeño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261872"/>
            <a:ext cx="4160520" cy="603504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Shape 22"/>
          <p:cNvSpPr/>
          <p:nvPr/>
        </p:nvSpPr>
        <p:spPr>
          <a:xfrm>
            <a:off x="4709160" y="1261872"/>
            <a:ext cx="109728" cy="603504"/>
          </a:xfrm>
          <a:prstGeom prst="rect">
            <a:avLst/>
          </a:prstGeom>
          <a:solidFill>
            <a:srgbClr val="D07B00"/>
          </a:solidFill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4873752" y="1298448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Apache Spark + HDFS: el ETL escala a millones de registros sin modificaciones — condición fundamental del HPC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920240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Shape 25"/>
          <p:cNvSpPr/>
          <p:nvPr/>
        </p:nvSpPr>
        <p:spPr>
          <a:xfrm>
            <a:off x="4709160" y="1920240"/>
            <a:ext cx="109728" cy="603504"/>
          </a:xfrm>
          <a:prstGeom prst="rect">
            <a:avLst/>
          </a:prstGeom>
          <a:solidFill>
            <a:srgbClr val="D07B00"/>
          </a:solidFill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Text 26"/>
          <p:cNvSpPr/>
          <p:nvPr/>
        </p:nvSpPr>
        <p:spPr>
          <a:xfrm>
            <a:off x="4873752" y="1956816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Separación Spark (ETL) / sklearn (ML iterativo) refleja usar la herramienta correcta en cada capa del pipeline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578608"/>
            <a:ext cx="4160520" cy="603504"/>
          </a:xfrm>
          <a:prstGeom prst="rect">
            <a:avLst/>
          </a:prstGeom>
          <a:solidFill>
            <a:srgbClr val="E0F2F7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0" name="Shape 28"/>
          <p:cNvSpPr/>
          <p:nvPr/>
        </p:nvSpPr>
        <p:spPr>
          <a:xfrm>
            <a:off x="4709160" y="2578608"/>
            <a:ext cx="109728" cy="603504"/>
          </a:xfrm>
          <a:prstGeom prst="rect">
            <a:avLst/>
          </a:prstGeom>
          <a:solidFill>
            <a:srgbClr val="D07B00"/>
          </a:solidFill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Text 29"/>
          <p:cNvSpPr/>
          <p:nvPr/>
        </p:nvSpPr>
        <p:spPr>
          <a:xfrm>
            <a:off x="4873752" y="2615184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Paralelización nativa de RF (n_jobs=-1): los algoritmos ensemble son inherentemente paralelizables — candidatos ideales en HPC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23697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4709160" y="3236976"/>
            <a:ext cx="109728" cy="603504"/>
          </a:xfrm>
          <a:prstGeom prst="rect">
            <a:avLst/>
          </a:prstGeom>
          <a:solidFill>
            <a:srgbClr val="D07B00"/>
          </a:solidFill>
          <a:ln w="12700">
            <a:solidFill>
              <a:srgbClr val="D07B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Text 32"/>
          <p:cNvSpPr/>
          <p:nvPr/>
        </p:nvSpPr>
        <p:spPr>
          <a:xfrm>
            <a:off x="4873752" y="3273552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</a:rPr>
              <a:t>Validación cruzada estratificada: costo computacional adicional justificado por confiabilidad del resultado en datasets pequeños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913632"/>
            <a:ext cx="8595360" cy="5943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O"/>
          </a:p>
        </p:txBody>
      </p:sp>
      <p:sp>
        <p:nvSpPr>
          <p:cNvPr id="36" name="Text 34"/>
          <p:cNvSpPr/>
          <p:nvPr/>
        </p:nvSpPr>
        <p:spPr>
          <a:xfrm>
            <a:off x="365760" y="3950208"/>
            <a:ext cx="8412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Recomendación: </a:t>
            </a:r>
            <a:r>
              <a:rPr lang="en-US" sz="1200" dirty="0">
                <a:solidFill>
                  <a:srgbClr val="FFFFFF"/>
                </a:solidFill>
              </a:rPr>
              <a:t>Gradient Boosting para producción · Spark+HDFS para ingestión · sklearn para entrenamiento eficiente · ANN para análisis de tendencias continuas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43A"/>
          </a:solidFill>
          <a:ln w="12700">
            <a:solidFill>
              <a:srgbClr val="05243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Trabajo Futuro y Mejoras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387705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Mejora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Técnica propuesta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Impacto esperado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Optimización de hiperparámetros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Optuna / BayesSearchCV distribuido con Spark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6B2E"/>
                          </a:solidFill>
                        </a:rPr>
                        <a:t>+2-5% F1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Explicabilidad avanzada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SHAP values — análisis local y global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6B2E"/>
                          </a:solidFill>
                        </a:rPr>
                        <a:t>Confianza regulatoria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Dimensión temporal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Series de tiempo + LSTM por estación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6B2E"/>
                          </a:solidFill>
                        </a:rPr>
                        <a:t>Predicción proactiva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Datos geoespaciales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Encoding distancia a ciudades/industrias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6B2E"/>
                          </a:solidFill>
                        </a:rPr>
                        <a:t>Patrones regionales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Ensemble final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Stacking (RF+GB+ANN) sobre el driver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6B2E"/>
                          </a:solidFill>
                        </a:rPr>
                        <a:t>Máximo desempeño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Despliegue en tiempo real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FastAPI + Docker + Kafka + Spark Streaming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6B2E"/>
                          </a:solidFill>
                        </a:rPr>
                        <a:t>Alertas IoT en ms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Escala HPC real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4A6E"/>
                          </a:solidFill>
                        </a:rPr>
                        <a:t>Spark MLlib (GBT, RF distribuido)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6B2E"/>
                          </a:solidFill>
                        </a:rPr>
                        <a:t>ETL + entreno en un clúster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498848"/>
            <a:ext cx="8595360" cy="566928"/>
          </a:xfrm>
          <a:prstGeom prst="rect">
            <a:avLst/>
          </a:prstGeom>
          <a:solidFill>
            <a:srgbClr val="E0F2F7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6"/>
          <p:cNvSpPr/>
          <p:nvPr/>
        </p:nvSpPr>
        <p:spPr>
          <a:xfrm>
            <a:off x="365760" y="4535424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</a:rPr>
              <a:t>Salto natural: </a:t>
            </a:r>
            <a:r>
              <a:rPr lang="en-US" sz="1150" dirty="0">
                <a:solidFill>
                  <a:srgbClr val="0D2137"/>
                </a:solidFill>
              </a:rPr>
              <a:t>Migrar el entrenamiento a Spark MLlib — Random Forest y Gradient Boosted Trees están implementados de forma nativa con paralelización distribuida, eliminando el cuello de botella del .toPandas() al driver.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9415E">
              <a:alpha val="60000"/>
            </a:srgbClr>
          </a:solidFill>
          <a:ln w="12700">
            <a:solidFill>
              <a:srgbClr val="0941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Resumen Ejecutivo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00100"/>
            <a:ext cx="5486400" cy="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Shape 4"/>
          <p:cNvSpPr/>
          <p:nvPr/>
        </p:nvSpPr>
        <p:spPr>
          <a:xfrm>
            <a:off x="548640" y="891540"/>
            <a:ext cx="1737360" cy="42062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Text 5"/>
          <p:cNvSpPr/>
          <p:nvPr/>
        </p:nvSpPr>
        <p:spPr>
          <a:xfrm>
            <a:off x="594360" y="9281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Problema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891540"/>
            <a:ext cx="6492240" cy="420624"/>
          </a:xfrm>
          <a:prstGeom prst="rect">
            <a:avLst/>
          </a:prstGeom>
          <a:solidFill>
            <a:srgbClr val="07415E"/>
          </a:solidFill>
          <a:ln w="12700">
            <a:solidFill>
              <a:srgbClr val="07536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2377440" y="928116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Clasificación calidad del agua (4 clases) + regresión WQI continuo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376172"/>
            <a:ext cx="1737360" cy="42062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594360" y="14127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Dataset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04288" y="1376172"/>
            <a:ext cx="6492240" cy="420624"/>
          </a:xfrm>
          <a:prstGeom prst="rect">
            <a:avLst/>
          </a:prstGeom>
          <a:solidFill>
            <a:srgbClr val="07415E"/>
          </a:solidFill>
          <a:ln w="12700">
            <a:solidFill>
              <a:srgbClr val="07536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1"/>
          <p:cNvSpPr/>
          <p:nvPr/>
        </p:nvSpPr>
        <p:spPr>
          <a:xfrm>
            <a:off x="2377440" y="1412748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534 estaciones · India · 6 parámetros fisicoquímicos (CPCB)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60804"/>
            <a:ext cx="1737360" cy="42062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3"/>
          <p:cNvSpPr/>
          <p:nvPr/>
        </p:nvSpPr>
        <p:spPr>
          <a:xfrm>
            <a:off x="594360" y="18973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HPC Stack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04288" y="1860804"/>
            <a:ext cx="6492240" cy="420624"/>
          </a:xfrm>
          <a:prstGeom prst="rect">
            <a:avLst/>
          </a:prstGeom>
          <a:solidFill>
            <a:srgbClr val="07415E"/>
          </a:solidFill>
          <a:ln w="12700">
            <a:solidFill>
              <a:srgbClr val="07536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2377440" y="189738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Apache Spark + Hadoop HDFS — ETL distribuido sin modificar al escalar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345436"/>
            <a:ext cx="1737360" cy="42062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Text 17"/>
          <p:cNvSpPr/>
          <p:nvPr/>
        </p:nvSpPr>
        <p:spPr>
          <a:xfrm>
            <a:off x="594360" y="23820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ML Stack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04288" y="2345436"/>
            <a:ext cx="6492240" cy="420624"/>
          </a:xfrm>
          <a:prstGeom prst="rect">
            <a:avLst/>
          </a:prstGeom>
          <a:solidFill>
            <a:srgbClr val="07415E"/>
          </a:solidFill>
          <a:ln w="12700">
            <a:solidFill>
              <a:srgbClr val="07536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2377440" y="2382012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Keras/TensorFlow (ANN) + Scikit-Learn (RF, GB) — entrenamiento en driver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30068"/>
            <a:ext cx="1737360" cy="42062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Text 21"/>
          <p:cNvSpPr/>
          <p:nvPr/>
        </p:nvSpPr>
        <p:spPr>
          <a:xfrm>
            <a:off x="594360" y="28666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Modelo 1 — ANN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04288" y="2830068"/>
            <a:ext cx="6492240" cy="420624"/>
          </a:xfrm>
          <a:prstGeom prst="rect">
            <a:avLst/>
          </a:prstGeom>
          <a:solidFill>
            <a:srgbClr val="07415E"/>
          </a:solidFill>
          <a:ln w="12700">
            <a:solidFill>
              <a:srgbClr val="07536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2377440" y="2866644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Regresión WQI · R²=0.9989 · RMSE=0.51 · MAE=0.11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14700"/>
            <a:ext cx="1737360" cy="42062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594360" y="33512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Modelo 2 — RF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3314700"/>
            <a:ext cx="6492240" cy="420624"/>
          </a:xfrm>
          <a:prstGeom prst="rect">
            <a:avLst/>
          </a:prstGeom>
          <a:solidFill>
            <a:srgbClr val="07415E"/>
          </a:solidFill>
          <a:ln w="12700">
            <a:solidFill>
              <a:srgbClr val="07536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Text 27"/>
          <p:cNvSpPr/>
          <p:nvPr/>
        </p:nvSpPr>
        <p:spPr>
          <a:xfrm>
            <a:off x="2377440" y="3351276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Clasificación · Accuracy 94.4% · AUC-ROC 0.978 · Alta interpretabilidad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99332"/>
            <a:ext cx="1737360" cy="42062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Text 29"/>
          <p:cNvSpPr/>
          <p:nvPr/>
        </p:nvSpPr>
        <p:spPr>
          <a:xfrm>
            <a:off x="594360" y="38359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Modelo 3 — GB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04288" y="3799332"/>
            <a:ext cx="6492240" cy="420624"/>
          </a:xfrm>
          <a:prstGeom prst="rect">
            <a:avLst/>
          </a:prstGeom>
          <a:solidFill>
            <a:srgbClr val="07415E"/>
          </a:solidFill>
          <a:ln w="12700">
            <a:solidFill>
              <a:srgbClr val="07536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Text 31"/>
          <p:cNvSpPr/>
          <p:nvPr/>
        </p:nvSpPr>
        <p:spPr>
          <a:xfrm>
            <a:off x="2377440" y="3835908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Clasificación · CV F1=0.879 · AUC-ROC 0.981 · Early stopping ronda 152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283964"/>
            <a:ext cx="1737360" cy="42062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Text 33"/>
          <p:cNvSpPr/>
          <p:nvPr/>
        </p:nvSpPr>
        <p:spPr>
          <a:xfrm>
            <a:off x="594360" y="43205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Recomendación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04288" y="4283964"/>
            <a:ext cx="6492240" cy="420624"/>
          </a:xfrm>
          <a:prstGeom prst="rect">
            <a:avLst/>
          </a:prstGeom>
          <a:solidFill>
            <a:srgbClr val="07415E"/>
          </a:solidFill>
          <a:ln w="12700">
            <a:solidFill>
              <a:srgbClr val="07536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7" name="Text 35"/>
          <p:cNvSpPr/>
          <p:nvPr/>
        </p:nvSpPr>
        <p:spPr>
          <a:xfrm>
            <a:off x="2377440" y="432054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Gradient Boosting para producción · Spark+HDFS para ingestión a escala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CC4"/>
                </a:solidFill>
              </a:rPr>
              <a:t>Juan Camilo Torres Peña  ·  Maestría en Computación de Alto Rendimiento  ·  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97433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8CAA"/>
                </a:solidFill>
              </a:rPr>
              <a:t>Dataset: CPCB India | Stack: PySpark · Hadoop HDFS · Keras · Scikit-Learn · GeoPandas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FD6498-FDC5-6543-B4C9-CB9242D433C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fea08ec-9a33-476a-a729-b61c1fb4334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2275</Words>
  <Application>Microsoft Macintosh PowerPoint</Application>
  <PresentationFormat>On-screen Show (16:9)</PresentationFormat>
  <Paragraphs>490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Calidad del Agua con Machine Learning</dc:title>
  <dc:subject>PptxGenJS Presentation</dc:subject>
  <dc:creator>Juan Camilo Torres Peña</dc:creator>
  <cp:lastModifiedBy>JC</cp:lastModifiedBy>
  <cp:revision>2</cp:revision>
  <dcterms:created xsi:type="dcterms:W3CDTF">2026-05-28T17:06:56Z</dcterms:created>
  <dcterms:modified xsi:type="dcterms:W3CDTF">2026-05-28T17:33:58Z</dcterms:modified>
</cp:coreProperties>
</file>